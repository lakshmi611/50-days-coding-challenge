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46A-2188-C549-4C69-6CCB6C486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41F9D-1B92-7703-FF29-2FE5DA233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E1C0A-A057-CB01-BFAF-F10E0A2E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7FF84-0DE1-6EDC-86BF-950F2863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3F68-97FD-CB94-6237-BD3A2D49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9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8125-8789-3958-187D-8D55655C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5431B-0232-3D54-748E-7031ABC1B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93640-5DE3-6493-B106-6659AFCF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DD475-009D-D54A-D266-347C05C1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93BB-854E-5DA8-74C1-BF9001A5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55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FE6F-9B4A-9AF7-89EB-67BC25E4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04DE6-253E-9BAE-4249-A925849EE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C0996-18A9-AC93-6943-0907C58B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0B9E-5C2F-52BF-9E4F-5FB0866C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656E6-3428-002F-BEE3-C73AAB66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65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8FAE-4A76-D3CD-912F-72591FB1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2899-859F-718F-EBCB-CDE7547BB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3289E-2912-0244-B487-5AF844A73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70AEC-FBE5-8E27-1E96-F03A01B2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4B627-B759-A2A6-B4BB-546683178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A35CB-59DA-8E11-2D05-B8649136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CE1D-3EBD-FB8F-90FF-B621AC8E5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97DAE-02AF-5635-7F42-4564D1425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1DA07-5799-C9E0-8CCB-48247BACC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1F277-938A-66AE-E22C-287D3A07C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50D4D-9572-D4AE-78D0-7CF0CCE23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DBEE6-85D5-DE4C-B648-BDFCAC93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44A79-8863-B7F0-D0CA-007EFE26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82AA8-9796-68DB-8B9E-CDB5174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11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7C2E-ADDA-3FDC-85C4-BA187332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F7D84-E295-4436-DF51-3514941C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D7709-99BB-6DD4-61D8-2C6C52D9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F08A6-8468-0502-2E80-03FC1E1C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7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1EA1-1238-0373-8F60-1E8F9490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FAC00-5701-1E54-169B-68D3D4DF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6D7D0-A9D0-2288-2878-4051B1DB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0B01-0B3D-C453-B144-8C2A8361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F1EF-C2D5-53AB-F02E-5740361C5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29B76-B5C7-7817-CEEA-E5704EB97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ECF4-29A9-D37C-4839-E06B0E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F4FE2-6146-0C64-5B43-54F67865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28627-6E73-BFD1-2947-1BA64063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22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749D-5420-7BB9-9061-92139576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E3894-715D-8706-8AF8-B9E2D0C7E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8B4FF-DC1E-3075-BD2C-CD2477669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23F17-AED5-8377-9EFD-CCEE19E4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CE95-4017-F6C0-43CE-46EED756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D553E-2335-6897-B963-F18BBDEC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66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F4B2-6D3F-574D-E7DD-B82E8826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37D66-5AE0-9148-1992-1E751B4AC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7AA8-B309-FA74-DDB6-9BDC3C96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BE16-EA61-3277-8FBC-3D0F7108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EA31E-278F-594F-A8B5-EB28CB47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76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4AFE-100A-C675-3231-36C7B88AD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04489-6E11-4FBC-0BF7-585AE634B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9A013-7F65-A851-46BF-DFC72810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9F0D0-7AFF-FA7C-A54D-4F4E8976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BF8A1-4DFF-E5F1-560B-797CE061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0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323AD-9822-059F-841F-59E3FFE8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8EADE-6B41-C781-AA7C-67349A77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B41B-6C80-1D38-6E8D-879C6B68C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A2567-C54B-44E7-80F9-601934AD74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94B4A-89DB-CE5C-E61F-6A2947AB8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1E8F-E950-1DE3-A1B6-4BA9FEFD1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F9826-1B13-4224-8B62-1CCFE5388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58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522E59-467F-B1FF-8D2A-85C5952D60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7B1E7-E541-F332-ABDD-076EFD4DF862}"/>
              </a:ext>
            </a:extLst>
          </p:cNvPr>
          <p:cNvSpPr/>
          <p:nvPr/>
        </p:nvSpPr>
        <p:spPr>
          <a:xfrm>
            <a:off x="4629198" y="0"/>
            <a:ext cx="2933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20D1E-EC62-B7C8-6350-11E417DEE798}"/>
              </a:ext>
            </a:extLst>
          </p:cNvPr>
          <p:cNvSpPr txBox="1"/>
          <p:nvPr/>
        </p:nvSpPr>
        <p:spPr>
          <a:xfrm>
            <a:off x="108155" y="993058"/>
            <a:ext cx="119068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1. Claim Trends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Certain </a:t>
            </a:r>
            <a:r>
              <a:rPr lang="en-US" sz="1400" b="1" dirty="0">
                <a:solidFill>
                  <a:schemeClr val="bg1"/>
                </a:solidFill>
              </a:rPr>
              <a:t>states/regions show consistently higher claim counts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Incident types (e.g., collision, theft)</a:t>
            </a:r>
            <a:r>
              <a:rPr lang="en-US" sz="1400" dirty="0">
                <a:solidFill>
                  <a:schemeClr val="bg1"/>
                </a:solidFill>
              </a:rPr>
              <a:t> dominate total claims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Claims peak during specific </a:t>
            </a:r>
            <a:r>
              <a:rPr lang="en-US" sz="1400" b="1" dirty="0">
                <a:solidFill>
                  <a:schemeClr val="bg1"/>
                </a:solidFill>
              </a:rPr>
              <a:t>hours/days (behavioral patterns)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dirty="0">
                <a:solidFill>
                  <a:schemeClr val="bg1"/>
                </a:solidFill>
              </a:rPr>
              <a:t>👉 Insight: Claims are not random — they follow </a:t>
            </a:r>
            <a:r>
              <a:rPr lang="en-US" sz="1400" b="1" dirty="0">
                <a:solidFill>
                  <a:schemeClr val="bg1"/>
                </a:solidFill>
              </a:rPr>
              <a:t>geographic + behavioral patterns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2. High-Risk Customer Segments</a:t>
            </a:r>
          </a:p>
          <a:p>
            <a:r>
              <a:rPr lang="en-US" sz="1400" dirty="0">
                <a:solidFill>
                  <a:schemeClr val="bg1"/>
                </a:solidFill>
              </a:rPr>
              <a:t>Higher claims observed in: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Certain </a:t>
            </a:r>
            <a:r>
              <a:rPr lang="en-US" sz="1400" b="1" dirty="0">
                <a:solidFill>
                  <a:schemeClr val="bg1"/>
                </a:solidFill>
              </a:rPr>
              <a:t>age groups (young/middle-aged drivers)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Specific </a:t>
            </a:r>
            <a:r>
              <a:rPr lang="en-US" sz="1400" b="1" dirty="0">
                <a:solidFill>
                  <a:schemeClr val="bg1"/>
                </a:solidFill>
              </a:rPr>
              <a:t>occupations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Customers with </a:t>
            </a:r>
            <a:r>
              <a:rPr lang="en-US" sz="1400" b="1" dirty="0">
                <a:solidFill>
                  <a:schemeClr val="bg1"/>
                </a:solidFill>
              </a:rPr>
              <a:t>lower deductibles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dirty="0">
                <a:solidFill>
                  <a:schemeClr val="bg1"/>
                </a:solidFill>
              </a:rPr>
              <a:t>👉 Insight: Risk varies significantly by </a:t>
            </a:r>
            <a:r>
              <a:rPr lang="en-US" sz="1400" b="1" dirty="0">
                <a:solidFill>
                  <a:schemeClr val="bg1"/>
                </a:solidFill>
              </a:rPr>
              <a:t>demographics and policy choices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3. Fraud Analysis</a:t>
            </a:r>
          </a:p>
          <a:p>
            <a:r>
              <a:rPr lang="en-US" sz="1400" dirty="0">
                <a:solidFill>
                  <a:schemeClr val="bg1"/>
                </a:solidFill>
              </a:rPr>
              <a:t>Fraudulent claims are: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More frequent in certain </a:t>
            </a:r>
            <a:r>
              <a:rPr lang="en-US" sz="1400" b="1" dirty="0">
                <a:solidFill>
                  <a:schemeClr val="bg1"/>
                </a:solidFill>
              </a:rPr>
              <a:t>incident types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Linked with </a:t>
            </a:r>
            <a:r>
              <a:rPr lang="en-US" sz="1400" b="1" dirty="0">
                <a:solidFill>
                  <a:schemeClr val="bg1"/>
                </a:solidFill>
              </a:rPr>
              <a:t>higher claim amounts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Often associated with </a:t>
            </a:r>
            <a:r>
              <a:rPr lang="en-US" sz="1400" b="1" dirty="0">
                <a:solidFill>
                  <a:schemeClr val="bg1"/>
                </a:solidFill>
              </a:rPr>
              <a:t>property damage + injury combination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dirty="0">
                <a:solidFill>
                  <a:schemeClr val="bg1"/>
                </a:solidFill>
              </a:rPr>
              <a:t>👉 Insight: Fraud cases show </a:t>
            </a:r>
            <a:r>
              <a:rPr lang="en-US" sz="1400" b="1" dirty="0">
                <a:solidFill>
                  <a:schemeClr val="bg1"/>
                </a:solidFill>
              </a:rPr>
              <a:t>repeatable patterns</a:t>
            </a:r>
            <a:r>
              <a:rPr lang="en-US" sz="1400" dirty="0">
                <a:solidFill>
                  <a:schemeClr val="bg1"/>
                </a:solidFill>
              </a:rPr>
              <a:t>, not random events</a:t>
            </a:r>
          </a:p>
        </p:txBody>
      </p:sp>
    </p:spTree>
    <p:extLst>
      <p:ext uri="{BB962C8B-B14F-4D97-AF65-F5344CB8AC3E}">
        <p14:creationId xmlns:p14="http://schemas.microsoft.com/office/powerpoint/2010/main" val="314590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FE2E-E768-F151-9F63-2D2A4A4C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924C9F-19EF-EEA9-1404-613F0DFA7D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286D6-4F5C-5FFE-86DB-C2586ED563EC}"/>
              </a:ext>
            </a:extLst>
          </p:cNvPr>
          <p:cNvSpPr/>
          <p:nvPr/>
        </p:nvSpPr>
        <p:spPr>
          <a:xfrm>
            <a:off x="4629198" y="0"/>
            <a:ext cx="2933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CF45D-DF47-57E9-D2A0-3ED94955BAEF}"/>
              </a:ext>
            </a:extLst>
          </p:cNvPr>
          <p:cNvSpPr txBox="1"/>
          <p:nvPr/>
        </p:nvSpPr>
        <p:spPr>
          <a:xfrm>
            <a:off x="108155" y="993058"/>
            <a:ext cx="119068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4. Policy vs Claim Relationship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Higher premiums → generally higher claim values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Lower deductibles → more frequent claims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Policies with </a:t>
            </a:r>
            <a:r>
              <a:rPr lang="en-US" sz="1400" b="1" dirty="0">
                <a:solidFill>
                  <a:schemeClr val="bg1"/>
                </a:solidFill>
              </a:rPr>
              <a:t>umbrella coverage → larger claims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dirty="0">
                <a:solidFill>
                  <a:schemeClr val="bg1"/>
                </a:solidFill>
              </a:rPr>
              <a:t>👉 Insight: Policy structure directly influences </a:t>
            </a:r>
            <a:r>
              <a:rPr lang="en-US" sz="1400" b="1" dirty="0">
                <a:solidFill>
                  <a:schemeClr val="bg1"/>
                </a:solidFill>
              </a:rPr>
              <a:t>claim behavior and exposure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5. Loss Ratio Insights</a:t>
            </a:r>
          </a:p>
          <a:p>
            <a:r>
              <a:rPr lang="en-US" sz="1400" dirty="0">
                <a:solidFill>
                  <a:schemeClr val="bg1"/>
                </a:solidFill>
              </a:rPr>
              <a:t>Some regions/customers show </a:t>
            </a:r>
            <a:r>
              <a:rPr lang="en-US" sz="1400" b="1" dirty="0">
                <a:solidFill>
                  <a:schemeClr val="bg1"/>
                </a:solidFill>
              </a:rPr>
              <a:t>high loss ratios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(Claims &gt; Premium collected) </a:t>
            </a:r>
          </a:p>
          <a:p>
            <a:r>
              <a:rPr lang="en-US" sz="1400" dirty="0">
                <a:solidFill>
                  <a:schemeClr val="bg1"/>
                </a:solidFill>
              </a:rPr>
              <a:t>👉 Insight: These segments are </a:t>
            </a:r>
            <a:r>
              <a:rPr lang="en-US" sz="1400" b="1" dirty="0">
                <a:solidFill>
                  <a:schemeClr val="bg1"/>
                </a:solidFill>
              </a:rPr>
              <a:t>unprofitable for the insurer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37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201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 sai</dc:creator>
  <cp:lastModifiedBy>lakshman sai</cp:lastModifiedBy>
  <cp:revision>1</cp:revision>
  <dcterms:created xsi:type="dcterms:W3CDTF">2026-03-26T15:30:41Z</dcterms:created>
  <dcterms:modified xsi:type="dcterms:W3CDTF">2026-03-26T16:56:49Z</dcterms:modified>
</cp:coreProperties>
</file>