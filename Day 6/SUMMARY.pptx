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A317-F188-F290-5659-6D68EB92F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30A1C-2910-1763-0385-B016A398F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69F0-934F-FF91-3D96-701B92A5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5F5E-3379-BE7A-47FB-D40F801D7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F927A-DA08-C513-79BD-86AA2F80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231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D757-7169-6863-A9F0-DABC79C1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CDBF-A286-808F-9957-F2FACE27F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A4B0B-6F57-6C4F-2E8B-9C6F91ECA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D8532-1194-A748-0998-46458D22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F2091-AB13-906F-2293-9A4396C0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3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BBBE-B23A-9102-254A-6A759814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A2644-2498-C15D-27A2-1BA404337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8FB9F-86FE-3580-DABC-785776AB2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3BAD0-A8C4-D861-B63A-4BA315C5C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7690A-32C1-DCE9-F69D-D04AF681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250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33A2-198B-34A1-D030-0EAC60410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E71A-7F6C-2786-635A-901F2EAD6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8B507-B434-670E-0CC4-A37FFD780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8A729-2588-7110-8864-A0268513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C28A1-444C-6B3D-CE6C-5220E11E7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A33E5B-5F33-31F6-4495-9119503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778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DD6C2-9C79-02E9-1102-37F3B9340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975E2-FFEC-CB06-0C70-BA08C7AA3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B4FD5-070B-45DE-8C61-E33DDCD3D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00B93-8621-02F0-61B3-6B0439B0F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E1C6C8-A229-1463-B1A9-61C6E0DDA3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647DB-CDF2-C3E5-0F22-EC735101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30B06-5DD9-126B-EAE5-0E5563E61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81F48-038B-060F-5BD9-4664E066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13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2E671-6862-C66D-DCE7-3B69D019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C3034-2844-CB73-5BD8-3E1956A5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4D1D9-F577-97F9-9906-05BD49E8E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51CD51-7DAD-733D-7C4F-F92226AAF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26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D3EA5-73F3-DE50-E8DA-3173AB71C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84642-FF0A-B299-5FFC-4111C223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216BC-2B38-FA14-177F-07039E87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5193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A96E-71C4-AA21-3186-913DC7E4F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DDCF-BC69-1FE6-16ED-7160785A7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9E54E-C9A9-0E4D-24D3-5E5C8D6CC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B8F43-762C-24DD-FDEC-50614F29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2920B-6755-B943-9F6E-FA5AF1EDC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57DA1E-FC16-6B8A-0250-8DC1B8DB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999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25CE-7DFC-3034-0EAA-642C68685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84579-6BCF-D8D7-7729-67519033A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F8DC5E-88E2-B712-0E7F-16AF957AA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A9DCC-932C-F70E-A8E5-F879159D7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4EC4E-7C15-4FB7-8573-F8885E2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1FD40-5D7D-62EF-BAFB-875EA8A2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85A54-2ABE-8CDE-7FE5-0355909B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E5813-4E0F-60C3-E7C8-91E34C00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9AFF4-4F48-8011-ADF7-A772DB17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DF572-CD6A-251C-AB90-DC25A5DD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D7A05-8310-C719-943F-85B1521FF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654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DC8863-CC63-78B3-BB43-006B4111C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FD56CD-F99C-9A35-DD1E-B98F52074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E6E4-8039-B84A-1CBC-B8D2669D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98F37-8850-E574-8B4A-3507864A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09D89-BDC3-0144-94F8-612E3FB8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77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8985A-AC07-D45F-2EB1-9208703C6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87AD5-48FB-5286-6781-5E837AB80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A8499-EFFB-0B32-AA27-0AD9CA31F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33B73-1163-4E88-A3DD-66FF35D63047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12B8F-82F4-6A29-3B30-C2C7FBA5A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60598-9F27-D50D-4C5B-62C50B090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04E05-A070-4B1C-B73D-01F17E69E1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5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0637-34E8-24C7-29C5-A63A3FBAFB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12BF0-0770-7E3E-A214-B24802EE50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3CE9A1A-7770-771A-1CCB-E5D818B06F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7B9EC2-BBF2-2805-DAD0-DF6B5613049F}"/>
              </a:ext>
            </a:extLst>
          </p:cNvPr>
          <p:cNvSpPr/>
          <p:nvPr/>
        </p:nvSpPr>
        <p:spPr>
          <a:xfrm>
            <a:off x="1032387" y="0"/>
            <a:ext cx="10314039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5400" dirty="0">
                <a:solidFill>
                  <a:schemeClr val="tx1"/>
                </a:solidFill>
              </a:rPr>
              <a:t>Customer &amp; Transaction Insights</a:t>
            </a:r>
            <a:endParaRPr lang="en-IN" sz="5400" b="1" dirty="0">
              <a:ln/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2FF551-F404-B9EC-35BB-05E05038E1CE}"/>
              </a:ext>
            </a:extLst>
          </p:cNvPr>
          <p:cNvSpPr/>
          <p:nvPr/>
        </p:nvSpPr>
        <p:spPr>
          <a:xfrm>
            <a:off x="373626" y="1122363"/>
            <a:ext cx="11287432" cy="5229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• Majority customers are 18–30 age group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Savings accounts dominate usage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Transactions show steady growth with seasonal peaks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Higher activity during weekdays and business hours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Insight: Young, digitally active customer base</a:t>
            </a:r>
          </a:p>
          <a:p>
            <a:pPr algn="ctr"/>
            <a:endParaRPr lang="en-IN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864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3A99-12D5-DC1F-5403-DCF39782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51A6-488C-904A-DDB7-799629553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E823807-978D-55D6-8CD5-AB730EDF6D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F67C5D-76A0-F260-22B6-DDFF61C1AE99}"/>
              </a:ext>
            </a:extLst>
          </p:cNvPr>
          <p:cNvSpPr/>
          <p:nvPr/>
        </p:nvSpPr>
        <p:spPr>
          <a:xfrm>
            <a:off x="1032387" y="0"/>
            <a:ext cx="10314039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5400" dirty="0">
                <a:solidFill>
                  <a:schemeClr val="tx1"/>
                </a:solidFill>
              </a:rPr>
              <a:t>Loan Performance &amp; Risk Analysis</a:t>
            </a:r>
            <a:endParaRPr lang="en-IN" sz="5400" b="1" dirty="0">
              <a:ln/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40A631-0D5C-8DB7-610A-134D4D06CE3C}"/>
              </a:ext>
            </a:extLst>
          </p:cNvPr>
          <p:cNvSpPr/>
          <p:nvPr/>
        </p:nvSpPr>
        <p:spPr>
          <a:xfrm>
            <a:off x="373626" y="1122363"/>
            <a:ext cx="11287432" cy="5229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dirty="0">
                <a:solidFill>
                  <a:schemeClr val="tx1"/>
                </a:solidFill>
              </a:rPr>
              <a:t>• Most loans are Active or Closed</a:t>
            </a:r>
          </a:p>
          <a:p>
            <a:r>
              <a:rPr lang="en-US" sz="4000" dirty="0">
                <a:solidFill>
                  <a:schemeClr val="tx1"/>
                </a:solidFill>
              </a:rPr>
              <a:t>• Default rate is within acceptable range (&lt;15%)</a:t>
            </a:r>
          </a:p>
          <a:p>
            <a:r>
              <a:rPr lang="en-US" sz="4000" dirty="0">
                <a:solidFill>
                  <a:schemeClr val="tx1"/>
                </a:solidFill>
              </a:rPr>
              <a:t>• Certain segments show higher default risk</a:t>
            </a:r>
          </a:p>
          <a:p>
            <a:endParaRPr lang="en-US" sz="4000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Insight: Moderate risk but needs monitoring</a:t>
            </a:r>
          </a:p>
        </p:txBody>
      </p:sp>
    </p:spTree>
    <p:extLst>
      <p:ext uri="{BB962C8B-B14F-4D97-AF65-F5344CB8AC3E}">
        <p14:creationId xmlns:p14="http://schemas.microsoft.com/office/powerpoint/2010/main" val="891903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D1BB7-9F31-E116-B189-BC3E52C31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73E3B-DBE2-9E50-F519-BB8BE14CB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AC4333-4736-5EB6-13D4-0620D9CC3E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B89D79-A657-6808-886F-03996B3AA032}"/>
              </a:ext>
            </a:extLst>
          </p:cNvPr>
          <p:cNvSpPr/>
          <p:nvPr/>
        </p:nvSpPr>
        <p:spPr>
          <a:xfrm>
            <a:off x="1032387" y="0"/>
            <a:ext cx="10314039" cy="96356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IN" sz="4800" dirty="0">
                <a:solidFill>
                  <a:schemeClr val="tx1"/>
                </a:solidFill>
              </a:rPr>
              <a:t>Customer Value &amp; Recommendations</a:t>
            </a:r>
            <a:endParaRPr lang="en-IN" sz="4800" b="1" dirty="0">
              <a:ln/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874A29-220B-4C3B-A5EF-AC9CB47BDADD}"/>
              </a:ext>
            </a:extLst>
          </p:cNvPr>
          <p:cNvSpPr/>
          <p:nvPr/>
        </p:nvSpPr>
        <p:spPr>
          <a:xfrm>
            <a:off x="373626" y="1122363"/>
            <a:ext cx="11287432" cy="522927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chemeClr val="tx1"/>
                </a:solidFill>
              </a:rPr>
              <a:t>• Top customers drive most transactions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High balance = high profitability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Many low-balance customers (&lt;5000)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Recommendations: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Target high-value customers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Engage low-balance customers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Monitor risky loans</a:t>
            </a:r>
          </a:p>
          <a:p>
            <a:r>
              <a:rPr lang="en-US" sz="3600" dirty="0">
                <a:solidFill>
                  <a:schemeClr val="tx1"/>
                </a:solidFill>
              </a:rPr>
              <a:t>• Use peak times for marketing</a:t>
            </a:r>
          </a:p>
        </p:txBody>
      </p:sp>
    </p:spTree>
    <p:extLst>
      <p:ext uri="{BB962C8B-B14F-4D97-AF65-F5344CB8AC3E}">
        <p14:creationId xmlns:p14="http://schemas.microsoft.com/office/powerpoint/2010/main" val="32600273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119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lakshman sai</dc:creator>
  <cp:lastModifiedBy>lakshman sai</cp:lastModifiedBy>
  <cp:revision>1</cp:revision>
  <dcterms:created xsi:type="dcterms:W3CDTF">2026-03-21T12:22:04Z</dcterms:created>
  <dcterms:modified xsi:type="dcterms:W3CDTF">2026-03-21T13:00:16Z</dcterms:modified>
</cp:coreProperties>
</file>